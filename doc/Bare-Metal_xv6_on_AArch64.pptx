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16" r:id="rId6"/>
    <p:sldId id="317" r:id="rId7"/>
    <p:sldId id="318" r:id="rId8"/>
    <p:sldId id="319" r:id="rId9"/>
    <p:sldId id="259" r:id="rId10"/>
    <p:sldId id="260" r:id="rId11"/>
    <p:sldId id="264" r:id="rId12"/>
    <p:sldId id="263" r:id="rId13"/>
    <p:sldId id="262" r:id="rId14"/>
    <p:sldId id="325" r:id="rId15"/>
    <p:sldId id="326" r:id="rId16"/>
    <p:sldId id="309" r:id="rId17"/>
    <p:sldId id="306" r:id="rId18"/>
    <p:sldId id="307" r:id="rId19"/>
    <p:sldId id="308" r:id="rId20"/>
    <p:sldId id="273" r:id="rId21"/>
    <p:sldId id="284" r:id="rId22"/>
    <p:sldId id="282" r:id="rId23"/>
    <p:sldId id="283" r:id="rId24"/>
    <p:sldId id="274" r:id="rId25"/>
    <p:sldId id="275" r:id="rId26"/>
    <p:sldId id="276" r:id="rId27"/>
    <p:sldId id="277" r:id="rId28"/>
    <p:sldId id="278" r:id="rId29"/>
    <p:sldId id="279" r:id="rId30"/>
    <p:sldId id="285" r:id="rId31"/>
    <p:sldId id="286" r:id="rId32"/>
    <p:sldId id="280" r:id="rId33"/>
    <p:sldId id="281" r:id="rId34"/>
    <p:sldId id="287" r:id="rId35"/>
    <p:sldId id="288" r:id="rId36"/>
    <p:sldId id="289" r:id="rId37"/>
    <p:sldId id="290" r:id="rId38"/>
    <p:sldId id="291" r:id="rId39"/>
    <p:sldId id="293" r:id="rId40"/>
    <p:sldId id="294" r:id="rId41"/>
    <p:sldId id="292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271" r:id="rId53"/>
    <p:sldId id="305" r:id="rId54"/>
    <p:sldId id="272" r:id="rId55"/>
    <p:sldId id="312" r:id="rId56"/>
    <p:sldId id="311" r:id="rId57"/>
    <p:sldId id="313" r:id="rId58"/>
    <p:sldId id="314" r:id="rId59"/>
    <p:sldId id="315" r:id="rId60"/>
    <p:sldId id="265" r:id="rId61"/>
    <p:sldId id="266" r:id="rId62"/>
    <p:sldId id="267" r:id="rId63"/>
    <p:sldId id="268" r:id="rId64"/>
    <p:sldId id="269" r:id="rId65"/>
    <p:sldId id="270" r:id="rId66"/>
    <p:sldId id="261" r:id="rId6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0" Type="http://schemas.openxmlformats.org/officeDocument/2006/relationships/tableStyles" Target="tableStyles.xml"/><Relationship Id="rId7" Type="http://schemas.openxmlformats.org/officeDocument/2006/relationships/slide" Target="slides/slide5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685800"/>
            <a:ext cx="15240000" cy="37973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65800" y="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启动代码</a:t>
            </a:r>
            <a:endParaRPr lang="zh-CN" altLang="en-US" sz="3200" b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4634865"/>
            <a:ext cx="1507934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0" y="76200"/>
            <a:ext cx="16256000" cy="3562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3581400"/>
            <a:ext cx="16256000" cy="34499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6934200"/>
            <a:ext cx="16256000" cy="380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13715" y="152400"/>
            <a:ext cx="16820515" cy="8548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5867400"/>
            <a:ext cx="16256000" cy="2847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52400"/>
            <a:ext cx="16256000" cy="5459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0" y="1066800"/>
            <a:ext cx="14058900" cy="633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9600"/>
            <a:ext cx="15753080" cy="6745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93750" y="-379095"/>
            <a:ext cx="17176750" cy="56502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3750" y="5271135"/>
            <a:ext cx="17320260" cy="4685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 rot="5400000">
            <a:off x="12797155" y="3865245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Page Allocation</a:t>
            </a:r>
            <a:endParaRPr lang="en-US" sz="3200" b="1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685800"/>
            <a:ext cx="15192375" cy="91440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241800" y="152400"/>
            <a:ext cx="7197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XV6</a:t>
            </a:r>
            <a:r>
              <a:rPr lang="zh-CN" altLang="en-US" sz="3200" b="1"/>
              <a:t>的用户进程结构和虚拟地址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 rot="5400000">
            <a:off x="12797155" y="3865245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Page Allocation</a:t>
            </a:r>
            <a:endParaRPr lang="en-US" sz="3200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4070"/>
            <a:ext cx="15126335" cy="49758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800" y="-76200"/>
            <a:ext cx="15471775" cy="9144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 rot="5400000">
            <a:off x="13178155" y="3865245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Page Allocation</a:t>
            </a:r>
            <a:endParaRPr lang="en-US" sz="32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145" y="55245"/>
            <a:ext cx="8974455" cy="82124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581400"/>
            <a:ext cx="12839700" cy="4114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457200"/>
            <a:ext cx="100203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485900"/>
            <a:ext cx="13436600" cy="6172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80000" y="381000"/>
            <a:ext cx="6364605" cy="889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启动分区</a:t>
            </a:r>
            <a:r>
              <a:rPr lang="en-US" altLang="zh-CN" sz="2400" b="1"/>
              <a:t>bootfs(fat32)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1289050"/>
            <a:ext cx="13779500" cy="6565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295400"/>
            <a:ext cx="13830300" cy="54533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83430" y="582930"/>
            <a:ext cx="8552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根目录</a:t>
            </a:r>
            <a:r>
              <a:rPr lang="en-US" altLang="zh-CN" sz="3200"/>
              <a:t>/   </a:t>
            </a:r>
            <a:r>
              <a:rPr lang="zh-CN" altLang="en-US" sz="3200"/>
              <a:t>根文件系统</a:t>
            </a:r>
            <a:r>
              <a:rPr lang="en-US" altLang="zh-CN" sz="3200"/>
              <a:t>  </a:t>
            </a:r>
            <a:r>
              <a:rPr lang="zh-CN" altLang="en-US" sz="3200"/>
              <a:t>及</a:t>
            </a:r>
            <a:r>
              <a:rPr lang="en-US" altLang="zh-CN" sz="3200"/>
              <a:t>  rootfs</a:t>
            </a:r>
            <a:endParaRPr lang="en-US" altLang="zh-CN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84800" y="861060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根文件启动流程（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0" y="64135"/>
            <a:ext cx="8923655" cy="86226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202565"/>
            <a:ext cx="8389620" cy="83616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84800" y="861060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根文件启动流程（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990600"/>
            <a:ext cx="11453495" cy="54413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381000"/>
            <a:ext cx="12433300" cy="2806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3187700"/>
            <a:ext cx="113284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533400"/>
            <a:ext cx="11747500" cy="78663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845" y="838200"/>
            <a:ext cx="12750800" cy="37338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75200" y="152400"/>
            <a:ext cx="7048500" cy="1388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/>
              <a:t>xv6</a:t>
            </a:r>
            <a:r>
              <a:rPr lang="zh-CN" altLang="en-US" sz="4000" b="1"/>
              <a:t>自己定义的文件系统</a:t>
            </a:r>
            <a:r>
              <a:rPr lang="en-US" sz="4000" b="1"/>
              <a:t>xv6fs</a:t>
            </a:r>
            <a:endParaRPr lang="zh-CN" altLang="en-US" sz="40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95800"/>
            <a:ext cx="136017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0" y="1727200"/>
            <a:ext cx="130683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0" y="152400"/>
            <a:ext cx="11423650" cy="77857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8305800"/>
            <a:ext cx="110617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900" y="273050"/>
            <a:ext cx="12014200" cy="8597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0" y="2946400"/>
            <a:ext cx="12103100" cy="3251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031105" y="1281430"/>
            <a:ext cx="54184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总线</a:t>
            </a:r>
            <a:r>
              <a:rPr lang="en-US" altLang="zh-CN" sz="4000" b="1"/>
              <a:t> </a:t>
            </a:r>
            <a:r>
              <a:rPr lang="zh-CN" altLang="en-US" sz="4000" b="1"/>
              <a:t>设备及驱动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0" y="552450"/>
            <a:ext cx="1313180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1246505"/>
            <a:ext cx="8921750" cy="80498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08600" y="457200"/>
            <a:ext cx="541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/>
              <a:t>USB</a:t>
            </a:r>
            <a:r>
              <a:rPr lang="zh-CN" altLang="en-US" sz="2800" b="1"/>
              <a:t>键盘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1066800"/>
            <a:ext cx="11185525" cy="64312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000" y="918210"/>
            <a:ext cx="11607165" cy="822579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0" y="228600"/>
            <a:ext cx="874649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0" y="1600200"/>
            <a:ext cx="101854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0" y="1219200"/>
            <a:ext cx="9931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76200"/>
            <a:ext cx="1069657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650" y="1447800"/>
            <a:ext cx="13728700" cy="7480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122545" y="593725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SDIO </a:t>
            </a:r>
            <a:r>
              <a:rPr lang="zh-CN" altLang="en-US"/>
              <a:t>无线</a:t>
            </a:r>
            <a:r>
              <a:rPr lang="zh-CN" altLang="en-US"/>
              <a:t>网卡</a:t>
            </a:r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0" y="406400"/>
            <a:ext cx="12852400" cy="8331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2965450"/>
            <a:ext cx="11874500" cy="32131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3225" y="148590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USB</a:t>
            </a:r>
            <a:r>
              <a:rPr lang="zh-CN" altLang="en-US" sz="3200"/>
              <a:t>无线网卡</a:t>
            </a:r>
            <a:r>
              <a:rPr lang="en-US" altLang="zh-CN" sz="3200"/>
              <a:t>MT7601</a:t>
            </a:r>
            <a:endParaRPr lang="en-US" altLang="zh-CN"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600" y="838200"/>
            <a:ext cx="10007600" cy="7835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22800" y="152400"/>
            <a:ext cx="5418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USB</a:t>
            </a:r>
            <a:r>
              <a:rPr lang="en-US" altLang="zh-CN" sz="3200"/>
              <a:t>MT7601</a:t>
            </a:r>
            <a:r>
              <a:rPr lang="zh-CN" altLang="en-US" sz="3200"/>
              <a:t>函数调用</a:t>
            </a:r>
            <a:r>
              <a:rPr lang="zh-CN" altLang="en-US" sz="3200"/>
              <a:t>链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0" y="1924050"/>
            <a:ext cx="9956800" cy="52959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731510" y="684530"/>
            <a:ext cx="5418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CSI-2</a:t>
            </a:r>
            <a:r>
              <a:rPr lang="zh-CN" altLang="en-US" sz="3200" b="1"/>
              <a:t>摄像头</a:t>
            </a:r>
            <a:r>
              <a:rPr lang="en-US" altLang="zh-CN" sz="3200" b="1"/>
              <a:t>OV5674</a:t>
            </a:r>
            <a:endParaRPr lang="en-US" altLang="zh-CN" sz="3200" b="1"/>
          </a:p>
          <a:p>
            <a:endParaRPr lang="en-US" altLang="zh-CN" sz="3200"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0" y="1492250"/>
            <a:ext cx="98679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143000"/>
            <a:ext cx="11466195" cy="65976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0" y="1295400"/>
            <a:ext cx="12548870" cy="555434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589270" y="1252855"/>
            <a:ext cx="541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用户程序</a:t>
            </a:r>
            <a:r>
              <a:rPr lang="en-US" altLang="zh-CN" sz="2800"/>
              <a:t> libc</a:t>
            </a:r>
            <a:r>
              <a:rPr lang="zh-CN" altLang="en-US" sz="2800"/>
              <a:t>库</a:t>
            </a:r>
            <a:endParaRPr lang="zh-CN" altLang="en-US" sz="2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cho-elf-detai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0" y="1447800"/>
            <a:ext cx="13049250" cy="864997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372100" y="510540"/>
            <a:ext cx="5996305" cy="455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动态加载共享库</a:t>
            </a:r>
            <a:r>
              <a:rPr lang="en-US" altLang="zh-CN" sz="3200"/>
              <a:t>(libc.so</a:t>
            </a:r>
            <a:r>
              <a:rPr lang="zh-CN" altLang="en-US" sz="3200"/>
              <a:t>及</a:t>
            </a:r>
            <a:r>
              <a:rPr lang="en-US" altLang="zh-CN" sz="3200"/>
              <a:t>ld.so)</a:t>
            </a:r>
            <a:endParaRPr lang="en-US" altLang="zh-CN" sz="3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0" y="76200"/>
            <a:ext cx="110871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echo-dynlink-step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85800"/>
            <a:ext cx="1574101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67095" y="1068070"/>
            <a:ext cx="5418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Pthread </a:t>
            </a:r>
            <a:r>
              <a:rPr lang="zh-CN" altLang="en-US" sz="3200" b="1"/>
              <a:t>用户线程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03600" y="762000"/>
            <a:ext cx="9156700" cy="200215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b="1" i="0">
                <a:solidFill>
                  <a:srgbClr val="000000"/>
                </a:solidFill>
                <a:latin typeface="Noto Sans CJK SC"/>
                <a:ea typeface="Noto Sans CJK SC"/>
              </a:rPr>
              <a:t>/bin/threadtest：exec 之后（pid 20 的两份快照），以及 clone 出两个线程之后的结构</a:t>
            </a:r>
            <a:endParaRPr sz="1600" b="1" i="0">
              <a:solidFill>
                <a:srgbClr val="000000"/>
              </a:solidFill>
              <a:latin typeface="Noto Sans CJK SC"/>
              <a:ea typeface="Noto Sans CJK SC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219200"/>
            <a:ext cx="13265785" cy="753935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327150"/>
            <a:ext cx="14782800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962660"/>
            <a:ext cx="15947390" cy="721804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76200"/>
            <a:ext cx="12811125" cy="60280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5943600"/>
            <a:ext cx="1180211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Presentation</Application>
  <PresentationFormat>On-screen Show (4:3)</PresentationFormat>
  <Paragraphs>42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Noto Sans CJK SC</vt:lpstr>
      <vt:lpstr>Thonburi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JiMing Kang</cp:lastModifiedBy>
  <cp:revision>37</cp:revision>
  <dcterms:created xsi:type="dcterms:W3CDTF">2026-10-21T03:59:55Z</dcterms:created>
  <dcterms:modified xsi:type="dcterms:W3CDTF">2026-10-21T03:59:55Z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0E9E287FBF49F4D25A0CD06AC1E8747B_43</vt:lpwstr>
  </property>
  <property fmtid="{D5CDD505-2E9C-101B-9397-08002B2CF9AE}" pid="3" name="KSOProductBuildVer">
    <vt:lpwstr>1033-12.1.21937.21937</vt:lpwstr>
  </property>
</Properties>
</file>