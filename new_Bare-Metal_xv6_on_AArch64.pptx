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3"/>
    <p:sldId id="257" r:id="rId4"/>
    <p:sldId id="258" r:id="rId5"/>
    <p:sldId id="316" r:id="rId6"/>
    <p:sldId id="317" r:id="rId7"/>
    <p:sldId id="318" r:id="rId8"/>
    <p:sldId id="319" r:id="rId9"/>
    <p:sldId id="259" r:id="rId10"/>
    <p:sldId id="260" r:id="rId11"/>
    <p:sldId id="264" r:id="rId12"/>
    <p:sldId id="263" r:id="rId13"/>
    <p:sldId id="262" r:id="rId14"/>
    <p:sldId id="329" r:id="rId15"/>
    <p:sldId id="330" r:id="rId16"/>
    <p:sldId id="325" r:id="rId17"/>
    <p:sldId id="327" r:id="rId18"/>
    <p:sldId id="326" r:id="rId19"/>
    <p:sldId id="309" r:id="rId20"/>
    <p:sldId id="306" r:id="rId21"/>
    <p:sldId id="328" r:id="rId22"/>
    <p:sldId id="308" r:id="rId23"/>
    <p:sldId id="347" r:id="rId24"/>
    <p:sldId id="331" r:id="rId25"/>
    <p:sldId id="333" r:id="rId26"/>
    <p:sldId id="334" r:id="rId27"/>
    <p:sldId id="332" r:id="rId28"/>
    <p:sldId id="336" r:id="rId29"/>
    <p:sldId id="346" r:id="rId30"/>
    <p:sldId id="345" r:id="rId31"/>
    <p:sldId id="337" r:id="rId32"/>
    <p:sldId id="338" r:id="rId33"/>
    <p:sldId id="341" r:id="rId35"/>
    <p:sldId id="342" r:id="rId36"/>
    <p:sldId id="343" r:id="rId37"/>
    <p:sldId id="344" r:id="rId38"/>
    <p:sldId id="340" r:id="rId39"/>
    <p:sldId id="273" r:id="rId40"/>
    <p:sldId id="284" r:id="rId41"/>
    <p:sldId id="282" r:id="rId42"/>
    <p:sldId id="283" r:id="rId43"/>
    <p:sldId id="274" r:id="rId44"/>
    <p:sldId id="275" r:id="rId45"/>
    <p:sldId id="276" r:id="rId46"/>
    <p:sldId id="277" r:id="rId47"/>
    <p:sldId id="278" r:id="rId48"/>
    <p:sldId id="279" r:id="rId49"/>
    <p:sldId id="285" r:id="rId50"/>
    <p:sldId id="286" r:id="rId51"/>
    <p:sldId id="280" r:id="rId52"/>
    <p:sldId id="281" r:id="rId53"/>
    <p:sldId id="287" r:id="rId54"/>
    <p:sldId id="288" r:id="rId55"/>
    <p:sldId id="289" r:id="rId56"/>
    <p:sldId id="290" r:id="rId57"/>
    <p:sldId id="291" r:id="rId58"/>
    <p:sldId id="293" r:id="rId59"/>
    <p:sldId id="294" r:id="rId60"/>
    <p:sldId id="292" r:id="rId61"/>
    <p:sldId id="295" r:id="rId62"/>
    <p:sldId id="296" r:id="rId63"/>
    <p:sldId id="297" r:id="rId64"/>
    <p:sldId id="298" r:id="rId65"/>
    <p:sldId id="299" r:id="rId66"/>
    <p:sldId id="300" r:id="rId67"/>
    <p:sldId id="301" r:id="rId68"/>
    <p:sldId id="302" r:id="rId69"/>
    <p:sldId id="303" r:id="rId70"/>
    <p:sldId id="304" r:id="rId71"/>
    <p:sldId id="271" r:id="rId72"/>
    <p:sldId id="305" r:id="rId73"/>
    <p:sldId id="272" r:id="rId74"/>
    <p:sldId id="312" r:id="rId75"/>
    <p:sldId id="311" r:id="rId76"/>
    <p:sldId id="313" r:id="rId77"/>
    <p:sldId id="314" r:id="rId78"/>
    <p:sldId id="315" r:id="rId79"/>
    <p:sldId id="265" r:id="rId80"/>
    <p:sldId id="266" r:id="rId81"/>
    <p:sldId id="267" r:id="rId82"/>
    <p:sldId id="268" r:id="rId83"/>
    <p:sldId id="269" r:id="rId84"/>
    <p:sldId id="270" r:id="rId85"/>
    <p:sldId id="261" r:id="rId8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9" Type="http://schemas.openxmlformats.org/officeDocument/2006/relationships/tableStyles" Target="tableStyles.xml"/><Relationship Id="rId88" Type="http://schemas.openxmlformats.org/officeDocument/2006/relationships/viewProps" Target="viewProps.xml"/><Relationship Id="rId87" Type="http://schemas.openxmlformats.org/officeDocument/2006/relationships/presProps" Target="presProps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8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8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9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1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2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3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4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5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6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7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8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9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0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1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2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3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4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5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6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7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8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9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0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4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5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6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7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8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9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680" y="685800"/>
            <a:ext cx="15240000" cy="37973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765800" y="0"/>
            <a:ext cx="5418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启动代码</a:t>
            </a:r>
            <a:endParaRPr lang="zh-CN" altLang="en-US" sz="3200" b="1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4634865"/>
            <a:ext cx="15079345" cy="2628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400" y="76200"/>
            <a:ext cx="16256000" cy="356298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3581400"/>
            <a:ext cx="16256000" cy="34499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400" y="6934200"/>
            <a:ext cx="16256000" cy="3806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13715" y="152400"/>
            <a:ext cx="16820515" cy="85483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00" y="5867400"/>
            <a:ext cx="16256000" cy="28479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52400"/>
            <a:ext cx="16256000" cy="54590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50" y="1066800"/>
            <a:ext cx="14058900" cy="6337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" y="152400"/>
            <a:ext cx="16256000" cy="60553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" y="6324600"/>
            <a:ext cx="13335000" cy="47682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38200"/>
            <a:ext cx="16256000" cy="69348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9600"/>
            <a:ext cx="15753080" cy="67456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32740"/>
            <a:ext cx="16256000" cy="84778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93750" y="-379095"/>
            <a:ext cx="17176750" cy="565023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93750" y="5271135"/>
            <a:ext cx="17320260" cy="468566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 rot="5400000">
            <a:off x="12797155" y="3865245"/>
            <a:ext cx="5418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/>
              <a:t>Page Allocation</a:t>
            </a:r>
            <a:endParaRPr lang="en-US" sz="3200" b="1"/>
          </a:p>
        </p:txBody>
      </p:sp>
      <p:sp>
        <p:nvSpPr>
          <p:cNvPr id="9" name="Text Box 8"/>
          <p:cNvSpPr txBox="1"/>
          <p:nvPr/>
        </p:nvSpPr>
        <p:spPr>
          <a:xfrm>
            <a:off x="4318000" y="76200"/>
            <a:ext cx="71977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/>
              <a:t>XV6</a:t>
            </a:r>
            <a:r>
              <a:rPr lang="zh-CN" altLang="en-US" sz="3200" b="1"/>
              <a:t>的用户进程结构和虚拟地址</a:t>
            </a:r>
            <a:endParaRPr lang="zh-CN" altLang="en-US" sz="3200"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360" y="609600"/>
            <a:ext cx="14079855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60" y="278765"/>
            <a:ext cx="14180820" cy="88652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7800" y="-76200"/>
            <a:ext cx="15471775" cy="914400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 rot="5400000">
            <a:off x="13178155" y="3865245"/>
            <a:ext cx="5418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/>
              <a:t>Page Allocation</a:t>
            </a:r>
            <a:endParaRPr lang="en-US" sz="3200"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400" y="457200"/>
            <a:ext cx="12741910" cy="926274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080000" y="-76200"/>
            <a:ext cx="5418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VFS</a:t>
            </a:r>
            <a:r>
              <a:rPr lang="zh-CN" altLang="en-US" sz="3200" b="1"/>
              <a:t>文件系统</a:t>
            </a:r>
            <a:r>
              <a:rPr lang="en-US" altLang="zh-CN" sz="3200" b="1"/>
              <a:t> 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8600" y="1371600"/>
            <a:ext cx="13576300" cy="72898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212205" y="462280"/>
            <a:ext cx="5418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根文件系统</a:t>
            </a:r>
            <a:r>
              <a:rPr lang="en-US" altLang="zh-CN" sz="3200" b="1"/>
              <a:t> rootfs </a:t>
            </a:r>
            <a:r>
              <a:rPr lang="zh-CN" altLang="en-US" sz="3200" b="1"/>
              <a:t>根目录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3850" y="622300"/>
            <a:ext cx="13068300" cy="78994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537200" y="381000"/>
            <a:ext cx="5418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/>
              <a:t>devtmpfs</a:t>
            </a:r>
            <a:endParaRPr lang="en-US" sz="3200"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5800" y="327660"/>
            <a:ext cx="12141200" cy="87528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000" y="1295400"/>
            <a:ext cx="1306830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 rot="5400000">
            <a:off x="12186285" y="4340860"/>
            <a:ext cx="5418455" cy="1003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600" b="1"/>
              <a:t>ext2</a:t>
            </a:r>
            <a:r>
              <a:rPr lang="zh-CN" altLang="en-US" sz="3600" b="1"/>
              <a:t>的</a:t>
            </a:r>
            <a:r>
              <a:rPr lang="en-US" sz="3600" b="1"/>
              <a:t>mount</a:t>
            </a:r>
            <a:r>
              <a:rPr lang="zh-CN" altLang="en-US" sz="3600" b="1"/>
              <a:t>加载</a:t>
            </a:r>
            <a:endParaRPr lang="zh-CN" altLang="en-US" sz="3600" b="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830" y="0"/>
            <a:ext cx="1318006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8895"/>
            <a:ext cx="16256000" cy="90455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" y="1066800"/>
            <a:ext cx="16084550" cy="66319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" y="1371600"/>
            <a:ext cx="16256000" cy="49053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00" y="152400"/>
            <a:ext cx="16256000" cy="720217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400" y="304800"/>
            <a:ext cx="16256000" cy="721804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6256000" cy="88519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200"/>
            <a:ext cx="16256000" cy="43459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20750"/>
            <a:ext cx="16256000" cy="763143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411855" y="1946275"/>
            <a:ext cx="8780145" cy="48869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ext2_fill_super()</a:t>
            </a:r>
            <a:endParaRPr lang="en-US" altLang="en-US"/>
          </a:p>
          <a:p>
            <a:r>
              <a:rPr lang="en-US" altLang="en-US"/>
              <a:t>  ├── readinode()</a:t>
            </a:r>
            <a:r>
              <a:rPr lang="zh-CN" altLang="en-US"/>
              <a:t>：直接读取磁盘</a:t>
            </a:r>
            <a:r>
              <a:rPr lang="en-US" altLang="en-US"/>
              <a:t> inode 2</a:t>
            </a:r>
            <a:r>
              <a:rPr lang="zh-CN" altLang="en-US"/>
              <a:t>，验证根目录</a:t>
            </a:r>
            <a:endParaRPr lang="zh-CN" altLang="en-US"/>
          </a:p>
          <a:p>
            <a:r>
              <a:rPr lang="en-US" altLang="en-US"/>
              <a:t>  └── sb-&gt;iop = &amp;ext2_iops</a:t>
            </a:r>
            <a:r>
              <a:rPr lang="zh-CN" altLang="en-US"/>
              <a:t>：注册引导操作表</a:t>
            </a:r>
            <a:endParaRPr lang="zh-CN" altLang="en-US"/>
          </a:p>
          <a:p>
            <a:endParaRPr lang="en-US" altLang="en-US"/>
          </a:p>
          <a:p>
            <a:r>
              <a:rPr lang="en-US" altLang="en-US"/>
              <a:t>kchdir("/root")</a:t>
            </a:r>
            <a:endParaRPr lang="en-US" altLang="en-US"/>
          </a:p>
          <a:p>
            <a:r>
              <a:rPr lang="en-US" altLang="en-US"/>
              <a:t>  ├── iget()</a:t>
            </a:r>
            <a:r>
              <a:rPr lang="zh-CN" altLang="en-US"/>
              <a:t>：创建</a:t>
            </a:r>
            <a:r>
              <a:rPr lang="en-US" altLang="en-US"/>
              <a:t> VFS inode </a:t>
            </a:r>
            <a:r>
              <a:rPr lang="zh-CN" altLang="en-US"/>
              <a:t>外壳</a:t>
            </a:r>
            <a:endParaRPr lang="zh-CN" altLang="en-US"/>
          </a:p>
          <a:p>
            <a:r>
              <a:rPr lang="en-US" altLang="en-US"/>
              <a:t>  │     iop   = sb-&gt;iop</a:t>
            </a:r>
            <a:endParaRPr lang="en-US" altLang="en-US"/>
          </a:p>
          <a:p>
            <a:r>
              <a:rPr lang="en-US" altLang="en-US"/>
              <a:t>  │     i_fop = NULL</a:t>
            </a:r>
            <a:endParaRPr lang="en-US" altLang="en-US"/>
          </a:p>
          <a:p>
            <a:r>
              <a:rPr lang="en-US" altLang="en-US"/>
              <a:t>  │     valid = 0</a:t>
            </a:r>
            <a:endParaRPr lang="en-US" altLang="en-US"/>
          </a:p>
          <a:p>
            <a:r>
              <a:rPr lang="en-US" altLang="en-US"/>
              <a:t>  │</a:t>
            </a:r>
            <a:endParaRPr lang="en-US" altLang="en-US"/>
          </a:p>
          <a:p>
            <a:r>
              <a:rPr lang="en-US" altLang="en-US"/>
              <a:t>  └── ilock()</a:t>
            </a:r>
            <a:r>
              <a:rPr lang="zh-CN" altLang="en-US"/>
              <a:t>：第一次正式加载</a:t>
            </a:r>
            <a:r>
              <a:rPr lang="en-US" altLang="en-US"/>
              <a:t> VFS </a:t>
            </a:r>
            <a:r>
              <a:rPr lang="zh-CN" altLang="en-US"/>
              <a:t>根</a:t>
            </a:r>
            <a:r>
              <a:rPr lang="en-US" altLang="en-US"/>
              <a:t> inode</a:t>
            </a:r>
            <a:endParaRPr lang="en-US" altLang="en-US"/>
          </a:p>
          <a:p>
            <a:r>
              <a:rPr lang="en-US" altLang="en-US"/>
              <a:t>        → e2_read_inode()</a:t>
            </a:r>
            <a:endParaRPr lang="en-US" altLang="en-US"/>
          </a:p>
          <a:p>
            <a:r>
              <a:rPr lang="en-US" altLang="en-US"/>
              <a:t>        → e2fill()</a:t>
            </a:r>
            <a:endParaRPr lang="en-US" altLang="en-US"/>
          </a:p>
          <a:p>
            <a:r>
              <a:rPr lang="en-US" altLang="en-US"/>
              <a:t>        → iop   = &amp;ext2_dir_iops</a:t>
            </a:r>
            <a:endParaRPr lang="en-US" altLang="en-US"/>
          </a:p>
          <a:p>
            <a:r>
              <a:rPr lang="en-US" altLang="en-US"/>
              <a:t>        → i_fop = &amp;ext2_dir_fops</a:t>
            </a:r>
            <a:endParaRPr lang="en-US" altLang="en-US"/>
          </a:p>
          <a:p>
            <a:r>
              <a:rPr lang="en-US" altLang="en-US"/>
              <a:t>        → valid = 1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022600" y="604520"/>
            <a:ext cx="917702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400" b="1"/>
              <a:t>iop</a:t>
            </a:r>
            <a:r>
              <a:rPr lang="zh-CN" altLang="en-US" sz="4400" b="1"/>
              <a:t>和</a:t>
            </a:r>
            <a:r>
              <a:rPr lang="en-US" altLang="en-US" sz="4400" b="1">
                <a:sym typeface="+mn-ea"/>
              </a:rPr>
              <a:t>i_fop </a:t>
            </a:r>
            <a:r>
              <a:rPr lang="zh-CN" altLang="en-US" sz="4400" b="1">
                <a:sym typeface="+mn-ea"/>
              </a:rPr>
              <a:t>的首次挂接</a:t>
            </a:r>
            <a:endParaRPr lang="zh-CN" altLang="en-US" sz="4400" b="1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565400" y="7086600"/>
            <a:ext cx="1012444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800">
                <a:solidFill>
                  <a:srgbClr val="FF0000"/>
                </a:solidFill>
              </a:rPr>
              <a:t>ilock()</a:t>
            </a:r>
            <a:endParaRPr lang="en-US" altLang="en-US" sz="2800">
              <a:solidFill>
                <a:srgbClr val="FF0000"/>
              </a:solidFill>
            </a:endParaRPr>
          </a:p>
          <a:p>
            <a:r>
              <a:rPr lang="zh-CN" altLang="en-US" sz="2800">
                <a:solidFill>
                  <a:srgbClr val="FF0000"/>
                </a:solidFill>
              </a:rPr>
              <a:t>借助</a:t>
            </a:r>
            <a:r>
              <a:rPr lang="en-US" altLang="en-US" sz="2800">
                <a:solidFill>
                  <a:srgbClr val="FF0000"/>
                </a:solidFill>
              </a:rPr>
              <a:t> inode </a:t>
            </a:r>
            <a:r>
              <a:rPr lang="zh-CN" altLang="en-US" sz="2800">
                <a:solidFill>
                  <a:srgbClr val="FF0000"/>
                </a:solidFill>
              </a:rPr>
              <a:t>当前继承自</a:t>
            </a:r>
            <a:r>
              <a:rPr lang="en-US" altLang="en-US" sz="2800">
                <a:solidFill>
                  <a:srgbClr val="FF0000"/>
                </a:solidFill>
              </a:rPr>
              <a:t> sb-&gt;iop </a:t>
            </a:r>
            <a:r>
              <a:rPr lang="zh-CN" altLang="en-US" sz="2800">
                <a:solidFill>
                  <a:srgbClr val="FF0000"/>
                </a:solidFill>
              </a:rPr>
              <a:t>的引导</a:t>
            </a:r>
            <a:r>
              <a:rPr lang="en-US" altLang="en-US" sz="2800">
                <a:solidFill>
                  <a:srgbClr val="FF0000"/>
                </a:solidFill>
              </a:rPr>
              <a:t> read_inode </a:t>
            </a:r>
            <a:r>
              <a:rPr lang="zh-CN" altLang="en-US" sz="2800">
                <a:solidFill>
                  <a:srgbClr val="FF0000"/>
                </a:solidFill>
              </a:rPr>
              <a:t>函数，</a:t>
            </a:r>
            <a:endParaRPr lang="zh-CN" altLang="en-US" sz="2800">
              <a:solidFill>
                <a:srgbClr val="FF0000"/>
              </a:solidFill>
            </a:endParaRPr>
          </a:p>
          <a:p>
            <a:r>
              <a:rPr lang="zh-CN" altLang="en-US" sz="2800">
                <a:solidFill>
                  <a:srgbClr val="FF0000"/>
                </a:solidFill>
              </a:rPr>
              <a:t>读取磁盘</a:t>
            </a:r>
            <a:r>
              <a:rPr lang="en-US" altLang="en-US" sz="2800">
                <a:solidFill>
                  <a:srgbClr val="FF0000"/>
                </a:solidFill>
              </a:rPr>
              <a:t> inode</a:t>
            </a:r>
            <a:r>
              <a:rPr lang="zh-CN" altLang="en-US" sz="2800">
                <a:solidFill>
                  <a:srgbClr val="FF0000"/>
                </a:solidFill>
              </a:rPr>
              <a:t>，并根据</a:t>
            </a:r>
            <a:r>
              <a:rPr lang="en-US" altLang="en-US" sz="2800">
                <a:solidFill>
                  <a:srgbClr val="FF0000"/>
                </a:solidFill>
              </a:rPr>
              <a:t> inode </a:t>
            </a:r>
            <a:r>
              <a:rPr lang="zh-CN" altLang="en-US" sz="2800">
                <a:solidFill>
                  <a:srgbClr val="FF0000"/>
                </a:solidFill>
              </a:rPr>
              <a:t>类型挂接最终的</a:t>
            </a:r>
            <a:r>
              <a:rPr lang="en-US" altLang="en-US" sz="2800">
                <a:solidFill>
                  <a:srgbClr val="FF0000"/>
                </a:solidFill>
              </a:rPr>
              <a:t> iop </a:t>
            </a:r>
            <a:r>
              <a:rPr lang="zh-CN" altLang="en-US" sz="2800">
                <a:solidFill>
                  <a:srgbClr val="FF0000"/>
                </a:solidFill>
              </a:rPr>
              <a:t>和</a:t>
            </a:r>
            <a:r>
              <a:rPr lang="en-US" altLang="en-US" sz="2800">
                <a:solidFill>
                  <a:srgbClr val="FF0000"/>
                </a:solidFill>
              </a:rPr>
              <a:t> i_fop</a:t>
            </a:r>
            <a:r>
              <a:rPr lang="zh-CN" altLang="en-US" sz="2800">
                <a:solidFill>
                  <a:srgbClr val="FF0000"/>
                </a:solidFill>
              </a:rPr>
              <a:t>。</a:t>
            </a:r>
            <a:endParaRPr lang="zh-CN" altLang="en-US" sz="2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2145" y="55245"/>
            <a:ext cx="8974455" cy="821245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0" y="3581400"/>
            <a:ext cx="12839700" cy="4114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00" y="457200"/>
            <a:ext cx="10020300" cy="24892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700" y="1485900"/>
            <a:ext cx="13436600" cy="61722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080000" y="381000"/>
            <a:ext cx="6364605" cy="889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/>
              <a:t>启动分区</a:t>
            </a:r>
            <a:r>
              <a:rPr lang="en-US" altLang="zh-CN" sz="2400" b="1"/>
              <a:t>bootfs(fat32)</a:t>
            </a:r>
            <a:endParaRPr lang="en-US" altLang="zh-CN" sz="2400"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250" y="1289050"/>
            <a:ext cx="13779500" cy="65659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1000" y="1295400"/>
            <a:ext cx="13830300" cy="545338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583430" y="582930"/>
            <a:ext cx="85528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根目录</a:t>
            </a:r>
            <a:r>
              <a:rPr lang="en-US" altLang="zh-CN" sz="3200"/>
              <a:t>/   </a:t>
            </a:r>
            <a:r>
              <a:rPr lang="zh-CN" altLang="en-US" sz="3200"/>
              <a:t>根文件系统</a:t>
            </a:r>
            <a:r>
              <a:rPr lang="en-US" altLang="zh-CN" sz="3200"/>
              <a:t>  </a:t>
            </a:r>
            <a:r>
              <a:rPr lang="zh-CN" altLang="en-US" sz="3200"/>
              <a:t>及</a:t>
            </a:r>
            <a:r>
              <a:rPr lang="en-US" altLang="zh-CN" sz="3200"/>
              <a:t>  rootfs</a:t>
            </a:r>
            <a:endParaRPr lang="en-US" altLang="zh-CN" sz="32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5384800" y="8610600"/>
            <a:ext cx="5418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根文件启动流程（</a:t>
            </a:r>
            <a:r>
              <a:rPr lang="en-US" altLang="zh-CN"/>
              <a:t>1</a:t>
            </a:r>
            <a:r>
              <a:rPr lang="zh-CN" altLang="en-US"/>
              <a:t>）</a:t>
            </a:r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4795" y="64135"/>
            <a:ext cx="10932160" cy="862266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455" y="202565"/>
            <a:ext cx="10616565" cy="836168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384800" y="8610600"/>
            <a:ext cx="5418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根文件启动流程（</a:t>
            </a:r>
            <a:r>
              <a:rPr lang="en-US" altLang="zh-CN"/>
              <a:t>2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1600" y="990600"/>
            <a:ext cx="11453495" cy="544131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5800" y="381000"/>
            <a:ext cx="12433300" cy="28067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400" y="3187700"/>
            <a:ext cx="11328400" cy="58547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4400" y="533400"/>
            <a:ext cx="11747500" cy="786638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845" y="838200"/>
            <a:ext cx="12750800" cy="37338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775200" y="152400"/>
            <a:ext cx="7048500" cy="1388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 b="1"/>
              <a:t>xv6</a:t>
            </a:r>
            <a:r>
              <a:rPr lang="zh-CN" altLang="en-US" sz="4000" b="1"/>
              <a:t>自己定义的文件系统</a:t>
            </a:r>
            <a:r>
              <a:rPr lang="en-US" sz="4000" b="1"/>
              <a:t>xv6fs</a:t>
            </a:r>
            <a:endParaRPr lang="zh-CN" altLang="en-US" sz="4000" b="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4495800"/>
            <a:ext cx="13601700" cy="44196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3850" y="1727200"/>
            <a:ext cx="13068300" cy="56896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4400" y="152400"/>
            <a:ext cx="11423650" cy="77857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600" y="8305800"/>
            <a:ext cx="110617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0900" y="273050"/>
            <a:ext cx="12014200" cy="85979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6450" y="2946400"/>
            <a:ext cx="12103100" cy="32512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031105" y="1281430"/>
            <a:ext cx="54184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/>
              <a:t>总线</a:t>
            </a:r>
            <a:r>
              <a:rPr lang="en-US" altLang="zh-CN" sz="4000" b="1"/>
              <a:t> </a:t>
            </a:r>
            <a:r>
              <a:rPr lang="zh-CN" altLang="en-US" sz="4000" b="1"/>
              <a:t>设备及驱动</a:t>
            </a:r>
            <a:endParaRPr lang="zh-CN" altLang="en-US" sz="4000" b="1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2100" y="552450"/>
            <a:ext cx="13131800" cy="80391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8400" y="1246505"/>
            <a:ext cx="8921750" cy="804989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308600" y="457200"/>
            <a:ext cx="54184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/>
              <a:t>USB</a:t>
            </a:r>
            <a:r>
              <a:rPr lang="zh-CN" altLang="en-US" sz="2800" b="1"/>
              <a:t>键盘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8400" y="1066800"/>
            <a:ext cx="11185525" cy="643128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2000" y="918210"/>
            <a:ext cx="11607165" cy="822579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2600" y="228600"/>
            <a:ext cx="8746490" cy="86868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4000" y="1600200"/>
            <a:ext cx="10185400" cy="41402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5400" y="1219200"/>
            <a:ext cx="9931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600" y="76200"/>
            <a:ext cx="10696575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650" y="1447800"/>
            <a:ext cx="13728700" cy="74803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122545" y="593725"/>
            <a:ext cx="5418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SDIO </a:t>
            </a:r>
            <a:r>
              <a:rPr lang="zh-CN" altLang="en-US"/>
              <a:t>无线</a:t>
            </a:r>
            <a:r>
              <a:rPr lang="zh-CN" altLang="en-US"/>
              <a:t>网卡</a:t>
            </a:r>
            <a:endParaRPr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1800" y="406400"/>
            <a:ext cx="12852400" cy="83312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0750" y="2965450"/>
            <a:ext cx="11874500" cy="32131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483225" y="1485900"/>
            <a:ext cx="5418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/>
              <a:t>USB</a:t>
            </a:r>
            <a:r>
              <a:rPr lang="zh-CN" altLang="en-US" sz="3200"/>
              <a:t>无线网卡</a:t>
            </a:r>
            <a:r>
              <a:rPr lang="en-US" altLang="zh-CN" sz="3200"/>
              <a:t>MT7601</a:t>
            </a:r>
            <a:endParaRPr lang="en-US" altLang="zh-CN" sz="32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2600" y="838200"/>
            <a:ext cx="10007600" cy="78359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622800" y="152400"/>
            <a:ext cx="541845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/>
              <a:t>USB</a:t>
            </a:r>
            <a:r>
              <a:rPr lang="en-US" altLang="zh-CN" sz="3200"/>
              <a:t>MT7601</a:t>
            </a:r>
            <a:r>
              <a:rPr lang="zh-CN" altLang="en-US" sz="3200"/>
              <a:t>函数调用</a:t>
            </a:r>
            <a:r>
              <a:rPr lang="zh-CN" altLang="en-US" sz="3200"/>
              <a:t>链</a:t>
            </a:r>
            <a:endParaRPr lang="zh-CN" altLang="en-US" sz="3200"/>
          </a:p>
          <a:p>
            <a:endParaRPr lang="zh-CN" altLang="en-US" sz="32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9600" y="1924050"/>
            <a:ext cx="9956800" cy="52959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731510" y="684530"/>
            <a:ext cx="541845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/>
              <a:t>CSI-2</a:t>
            </a:r>
            <a:r>
              <a:rPr lang="zh-CN" altLang="en-US" sz="3200" b="1"/>
              <a:t>摄像头</a:t>
            </a:r>
            <a:r>
              <a:rPr lang="en-US" altLang="zh-CN" sz="3200" b="1"/>
              <a:t>OV5674</a:t>
            </a:r>
            <a:endParaRPr lang="en-US" altLang="zh-CN" sz="3200" b="1"/>
          </a:p>
          <a:p>
            <a:endParaRPr lang="en-US" altLang="zh-CN" sz="3200" b="1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4050" y="1492250"/>
            <a:ext cx="9867900" cy="61595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220" y="1143000"/>
            <a:ext cx="11466195" cy="659765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8200" y="1295400"/>
            <a:ext cx="12548870" cy="555434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589270" y="1252855"/>
            <a:ext cx="54184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用户程序</a:t>
            </a:r>
            <a:r>
              <a:rPr lang="en-US" altLang="zh-CN" sz="2800"/>
              <a:t> libc</a:t>
            </a:r>
            <a:r>
              <a:rPr lang="zh-CN" altLang="en-US" sz="2800"/>
              <a:t>库</a:t>
            </a:r>
            <a:endParaRPr lang="zh-CN" altLang="en-US" sz="28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echo-elf-detai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3000" y="1447800"/>
            <a:ext cx="13049250" cy="864997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5372100" y="510540"/>
            <a:ext cx="5996305" cy="455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/>
              <a:t>动态加载共享库</a:t>
            </a:r>
            <a:r>
              <a:rPr lang="en-US" altLang="zh-CN" sz="3200"/>
              <a:t>(libc.so</a:t>
            </a:r>
            <a:r>
              <a:rPr lang="zh-CN" altLang="en-US" sz="3200"/>
              <a:t>及</a:t>
            </a:r>
            <a:r>
              <a:rPr lang="en-US" altLang="zh-CN" sz="3200"/>
              <a:t>ld.so)</a:t>
            </a:r>
            <a:endParaRPr lang="en-US" altLang="zh-CN" sz="32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6200" y="76200"/>
            <a:ext cx="110871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echo-dynlink-step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685800"/>
            <a:ext cx="15741015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967095" y="1068070"/>
            <a:ext cx="5418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/>
              <a:t>Pthread </a:t>
            </a:r>
            <a:r>
              <a:rPr lang="zh-CN" altLang="en-US" sz="3200" b="1"/>
              <a:t>用户线程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403600" y="762000"/>
            <a:ext cx="9156700" cy="2002155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sz="1600" b="1" i="0">
                <a:solidFill>
                  <a:srgbClr val="000000"/>
                </a:solidFill>
                <a:latin typeface="Noto Sans CJK SC"/>
                <a:ea typeface="Noto Sans CJK SC"/>
              </a:rPr>
              <a:t>/bin/threadtest：exec 之后（pid 20 的两份快照），以及 clone 出两个线程之后的结构</a:t>
            </a:r>
            <a:endParaRPr sz="1600" b="1" i="0">
              <a:solidFill>
                <a:srgbClr val="000000"/>
              </a:solidFill>
              <a:latin typeface="Noto Sans CJK SC"/>
              <a:ea typeface="Noto Sans CJK SC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00" y="1219200"/>
            <a:ext cx="13265785" cy="7539355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0" y="1327150"/>
            <a:ext cx="14782800" cy="64897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00" y="962660"/>
            <a:ext cx="15947390" cy="7218045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200" y="76200"/>
            <a:ext cx="12811125" cy="602805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" y="5943600"/>
            <a:ext cx="11802110" cy="45974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792</Words>
  <Application>WPS Presentation</Application>
  <PresentationFormat>On-screen Show (4:3)</PresentationFormat>
  <Paragraphs>71</Paragraphs>
  <Slides>83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83</vt:i4>
      </vt:variant>
    </vt:vector>
  </HeadingPairs>
  <TitlesOfParts>
    <vt:vector size="97" baseType="lpstr">
      <vt:lpstr>Arial</vt:lpstr>
      <vt:lpstr>SimSun</vt:lpstr>
      <vt:lpstr>Wingdings</vt:lpstr>
      <vt:lpstr>Microsoft YaHei</vt:lpstr>
      <vt:lpstr>汉仪旗黑</vt:lpstr>
      <vt:lpstr>Arial Unicode MS</vt:lpstr>
      <vt:lpstr>Calibri</vt:lpstr>
      <vt:lpstr>Helvetica Neue</vt:lpstr>
      <vt:lpstr>Noto Sans CJK SC</vt:lpstr>
      <vt:lpstr>Thonburi</vt:lpstr>
      <vt:lpstr>SimSun</vt:lpstr>
      <vt:lpstr>宋体-简</vt:lpstr>
      <vt:lpstr>SimSun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JiMing Kang</cp:lastModifiedBy>
  <cp:revision>46</cp:revision>
  <dcterms:created xsi:type="dcterms:W3CDTF">2026-10-25T17:43:30Z</dcterms:created>
  <dcterms:modified xsi:type="dcterms:W3CDTF">2026-10-25T17:43:30Z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42753D91E92A61B19F3ED86AF5B92621_43</vt:lpwstr>
  </property>
  <property fmtid="{D5CDD505-2E9C-101B-9397-08002B2CF9AE}" pid="3" name="KSOProductBuildVer">
    <vt:lpwstr>1033-12.1.21937.21937</vt:lpwstr>
  </property>
</Properties>
</file>